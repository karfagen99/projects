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89213" y="1138881"/>
            <a:ext cx="8915399" cy="2262781"/>
          </a:xfrm>
        </p:spPr>
        <p:txBody>
          <a:bodyPr/>
          <a:lstStyle/>
          <a:p>
            <a:r>
              <a:rPr lang="ru-RU" b="1" dirty="0"/>
              <a:t>Тире в простом и сложном предложениях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Овчинников Данил</a:t>
            </a:r>
            <a:r>
              <a:rPr lang="en-US" dirty="0" smtClean="0"/>
              <a:t>, </a:t>
            </a:r>
            <a:r>
              <a:rPr lang="ru-RU" dirty="0" err="1" smtClean="0"/>
              <a:t>Биктимиров</a:t>
            </a:r>
            <a:r>
              <a:rPr lang="ru-RU" dirty="0" smtClean="0"/>
              <a:t> Динар</a:t>
            </a:r>
            <a:r>
              <a:rPr lang="en-US" dirty="0" smtClean="0"/>
              <a:t>, </a:t>
            </a:r>
            <a:r>
              <a:rPr lang="ru-RU" dirty="0" smtClean="0"/>
              <a:t>Максимов Максим</a:t>
            </a:r>
            <a:r>
              <a:rPr lang="en-US" dirty="0" smtClean="0"/>
              <a:t>, </a:t>
            </a:r>
            <a:r>
              <a:rPr lang="ru-RU" dirty="0" err="1" smtClean="0"/>
              <a:t>Якупова</a:t>
            </a:r>
            <a:r>
              <a:rPr lang="ru-RU" dirty="0" smtClean="0"/>
              <a:t> </a:t>
            </a:r>
            <a:r>
              <a:rPr lang="ru-RU" dirty="0" err="1" smtClean="0"/>
              <a:t>Леана</a:t>
            </a:r>
            <a:endParaRPr lang="ru-RU" dirty="0"/>
          </a:p>
          <a:p>
            <a:pPr algn="ctr"/>
            <a:r>
              <a:rPr lang="ru-RU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403</a:t>
            </a:r>
            <a:r>
              <a:rPr 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/2</a:t>
            </a:r>
            <a:endParaRPr lang="ru-RU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19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9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412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4385" y="187329"/>
            <a:ext cx="8911687" cy="1280890"/>
          </a:xfrm>
        </p:spPr>
        <p:txBody>
          <a:bodyPr/>
          <a:lstStyle/>
          <a:p>
            <a:r>
              <a:rPr lang="ru-RU" b="1" dirty="0"/>
              <a:t>Тире в простом предложении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4163" y="1677768"/>
            <a:ext cx="10356783" cy="4629665"/>
          </a:xfrm>
          <a:solidFill>
            <a:schemeClr val="bg1">
              <a:alpha val="12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Существительным в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И.п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 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Пример: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Дербент — древнейший город России.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Числительным в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И.п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., один главный член выражен числительным или числительным с существительным, а другой член — существительным в </a:t>
            </a:r>
            <a:r>
              <a:rPr lang="ru-RU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И.п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 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Пример: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Шестью шесть — тридцать шесть. Семь — счастливая цифра.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Инфинитивом. 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Пример: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Курить — здоровью вредить. (Инфинитив часто можно заменить существительным: курить — курение).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Существительным и 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инфинитивом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 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Пример: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Хороший пример детям — любить свою Родину. Сохранить Землю — наша первоочередная  задача.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Присутствуют слова: 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это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значит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вот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Пример: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Жить — значит любить. Россия — это великая держава!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12228" y="9266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i="1" dirty="0">
                <a:solidFill>
                  <a:srgbClr val="2832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/>
              </a:rPr>
              <a:t>Пишем, когда главные члены выражаются: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11295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5526" y="402729"/>
            <a:ext cx="8911687" cy="1280890"/>
          </a:xfrm>
        </p:spPr>
        <p:txBody>
          <a:bodyPr/>
          <a:lstStyle/>
          <a:p>
            <a:r>
              <a:rPr lang="ru-RU" b="1" dirty="0"/>
              <a:t>Тире </a:t>
            </a:r>
            <a:r>
              <a:rPr lang="ru-RU" b="1" dirty="0" smtClean="0">
                <a:solidFill>
                  <a:srgbClr val="FF0000"/>
                </a:solidFill>
              </a:rPr>
              <a:t>Не</a:t>
            </a:r>
            <a:r>
              <a:rPr lang="ru-RU" b="1" dirty="0" smtClean="0"/>
              <a:t> </a:t>
            </a:r>
            <a:r>
              <a:rPr lang="ru-RU" b="1" dirty="0"/>
              <a:t>пишем, когда главные члены </a:t>
            </a:r>
            <a:r>
              <a:rPr lang="ru-RU" b="1" dirty="0" smtClean="0"/>
              <a:t>выражаются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731535" y="1728537"/>
            <a:ext cx="5476759" cy="4951396"/>
          </a:xfrm>
          <a:solidFill>
            <a:schemeClr val="tx1">
              <a:lumMod val="85000"/>
              <a:lumOff val="15000"/>
              <a:alpha val="73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chemeClr val="bg1"/>
                </a:solidFill>
              </a:rPr>
              <a:t/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>
                <a:solidFill>
                  <a:schemeClr val="bg1"/>
                </a:solidFill>
              </a:rPr>
              <a:t>Личным местоимением и существительным. 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400" b="1" dirty="0">
                <a:solidFill>
                  <a:schemeClr val="bg1"/>
                </a:solidFill>
              </a:rPr>
              <a:t>:</a:t>
            </a:r>
            <a:r>
              <a:rPr lang="ru-RU" sz="1400" dirty="0">
                <a:solidFill>
                  <a:schemeClr val="bg1"/>
                </a:solidFill>
              </a:rPr>
              <a:t> Она добросовестная налогоплательщица.</a:t>
            </a:r>
          </a:p>
          <a:p>
            <a:pPr marL="0" indent="0">
              <a:buNone/>
            </a:pPr>
            <a:r>
              <a:rPr lang="ru-RU" sz="1400" b="1" dirty="0" smtClean="0">
                <a:solidFill>
                  <a:srgbClr val="C00000"/>
                </a:solidFill>
              </a:rPr>
              <a:t>ИСКЛ</a:t>
            </a:r>
            <a:r>
              <a:rPr lang="ru-RU" sz="1400" b="1" dirty="0" smtClean="0">
                <a:solidFill>
                  <a:schemeClr val="bg1"/>
                </a:solidFill>
              </a:rPr>
              <a:t>!</a:t>
            </a:r>
            <a:r>
              <a:rPr lang="ru-RU" sz="1400" dirty="0">
                <a:solidFill>
                  <a:schemeClr val="bg1"/>
                </a:solidFill>
              </a:rPr>
              <a:t> Но если местоимение-подлежащее логически выделяется, подчёркивается интонационно, тире можно ставить. 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400" b="1" dirty="0">
                <a:solidFill>
                  <a:schemeClr val="bg1"/>
                </a:solidFill>
              </a:rPr>
              <a:t>:</a:t>
            </a:r>
            <a:r>
              <a:rPr lang="ru-RU" sz="1400" dirty="0">
                <a:solidFill>
                  <a:schemeClr val="bg1"/>
                </a:solidFill>
              </a:rPr>
              <a:t> Наташа гордо заявила: «Я — королева бала!». Или личные местоимения-подлежащие противопоставляются в одинаково построенных частях предложения. </a:t>
            </a:r>
            <a:r>
              <a:rPr lang="ru-RU" sz="1400" b="1" dirty="0">
                <a:solidFill>
                  <a:schemeClr val="bg1"/>
                </a:solidFill>
              </a:rPr>
              <a:t>Пример:</a:t>
            </a:r>
            <a:r>
              <a:rPr lang="ru-RU" sz="1400" dirty="0">
                <a:solidFill>
                  <a:schemeClr val="bg1"/>
                </a:solidFill>
              </a:rPr>
              <a:t> «Ты — голова, а я — шея!» — воскликнула супруга Николаю.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1"/>
                </a:solidFill>
              </a:rPr>
              <a:t/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>
                <a:solidFill>
                  <a:schemeClr val="bg1"/>
                </a:solidFill>
              </a:rPr>
              <a:t>Любыми частями речи, однако впереди сказуемого находятся не или слова </a:t>
            </a:r>
            <a:r>
              <a:rPr lang="ru-RU" sz="1400" b="1" dirty="0">
                <a:solidFill>
                  <a:schemeClr val="bg1"/>
                </a:solidFill>
              </a:rPr>
              <a:t>как, точно, как будто, словно, точно, всё равно что. </a:t>
            </a:r>
            <a:endParaRPr lang="ru-RU" sz="1400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400" b="1" dirty="0">
                <a:solidFill>
                  <a:schemeClr val="bg1"/>
                </a:solidFill>
              </a:rPr>
              <a:t>: </a:t>
            </a:r>
            <a:r>
              <a:rPr lang="ru-RU" sz="1400" dirty="0">
                <a:solidFill>
                  <a:schemeClr val="bg1"/>
                </a:solidFill>
              </a:rPr>
              <a:t>Гусь свинье не товарищ. Дорога как змея. Лес точно терем расписной.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1"/>
                </a:solidFill>
              </a:rPr>
              <a:t>Между главными членами стоит дополнение либо обстоятельство. </a:t>
            </a:r>
            <a:r>
              <a:rPr lang="ru-RU" sz="1400" b="1" dirty="0">
                <a:solidFill>
                  <a:schemeClr val="bg1"/>
                </a:solidFill>
              </a:rPr>
              <a:t>Пример:</a:t>
            </a:r>
            <a:r>
              <a:rPr lang="ru-RU" sz="1400" dirty="0">
                <a:solidFill>
                  <a:schemeClr val="bg1"/>
                </a:solidFill>
              </a:rPr>
              <a:t> Наташа мне приятельница.</a:t>
            </a:r>
          </a:p>
          <a:p>
            <a:pPr marL="0" indent="0">
              <a:buNone/>
            </a:pP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314174" y="1728536"/>
            <a:ext cx="5698154" cy="4951397"/>
          </a:xfrm>
          <a:solidFill>
            <a:schemeClr val="tx1">
              <a:lumMod val="85000"/>
              <a:lumOff val="15000"/>
              <a:alpha val="73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Сказуемое представлено прилагательным (полным, кратким, в сравнительной либо превосходной степени). </a:t>
            </a:r>
            <a:endParaRPr lang="ru-RU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600" b="1" dirty="0">
                <a:solidFill>
                  <a:schemeClr val="bg1"/>
                </a:solidFill>
              </a:rPr>
              <a:t>:</a:t>
            </a:r>
            <a:r>
              <a:rPr lang="ru-RU" sz="1600" dirty="0">
                <a:solidFill>
                  <a:schemeClr val="bg1"/>
                </a:solidFill>
              </a:rPr>
              <a:t> Парнишка радушен и гостеприимен. Тропинка у`же и у`же.</a:t>
            </a:r>
          </a:p>
          <a:p>
            <a:pPr marL="0" indent="0">
              <a:buNone/>
            </a:pPr>
            <a:r>
              <a:rPr lang="ru-RU" sz="1600" b="1" dirty="0" smtClean="0">
                <a:solidFill>
                  <a:srgbClr val="C00000"/>
                </a:solidFill>
              </a:rPr>
              <a:t>ИСКЛ</a:t>
            </a:r>
            <a:r>
              <a:rPr lang="ru-RU" sz="1600" b="1" dirty="0" smtClean="0">
                <a:solidFill>
                  <a:schemeClr val="bg1"/>
                </a:solidFill>
              </a:rPr>
              <a:t>!</a:t>
            </a:r>
            <a:r>
              <a:rPr lang="ru-RU" sz="1600" dirty="0">
                <a:solidFill>
                  <a:schemeClr val="bg1"/>
                </a:solidFill>
              </a:rPr>
              <a:t> Однако при логическом и интонационном делении предложения на две части тире может ставиться. </a:t>
            </a:r>
            <a:endParaRPr lang="ru-RU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600" b="1" dirty="0">
                <a:solidFill>
                  <a:schemeClr val="bg1"/>
                </a:solidFill>
              </a:rPr>
              <a:t>:</a:t>
            </a:r>
            <a:r>
              <a:rPr lang="ru-RU" sz="1600" dirty="0">
                <a:solidFill>
                  <a:schemeClr val="bg1"/>
                </a:solidFill>
              </a:rPr>
              <a:t> Тропинка — </a:t>
            </a:r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У</a:t>
            </a:r>
            <a:r>
              <a:rPr lang="ru-RU" sz="1600" dirty="0" smtClean="0">
                <a:solidFill>
                  <a:schemeClr val="bg1"/>
                </a:solidFill>
              </a:rPr>
              <a:t>же </a:t>
            </a:r>
            <a:r>
              <a:rPr lang="ru-RU" sz="1600" dirty="0">
                <a:solidFill>
                  <a:schemeClr val="bg1"/>
                </a:solidFill>
              </a:rPr>
              <a:t>и У</a:t>
            </a:r>
            <a:r>
              <a:rPr lang="ru-RU" sz="1600" dirty="0" smtClean="0">
                <a:solidFill>
                  <a:schemeClr val="bg1"/>
                </a:solidFill>
              </a:rPr>
              <a:t>же</a:t>
            </a:r>
            <a:r>
              <a:rPr lang="ru-RU" sz="1600" dirty="0">
                <a:solidFill>
                  <a:schemeClr val="bg1"/>
                </a:solidFill>
              </a:rPr>
              <a:t>, поэтому пришлось спешиться и идти цепочкой. Или при структурном параллелизме частей сложного предложения также может употребляться тире. </a:t>
            </a:r>
            <a:r>
              <a:rPr lang="ru-RU" sz="1600" b="1" dirty="0">
                <a:solidFill>
                  <a:schemeClr val="bg1"/>
                </a:solidFill>
              </a:rPr>
              <a:t>Пример:</a:t>
            </a:r>
            <a:r>
              <a:rPr lang="ru-RU" sz="1600" dirty="0">
                <a:solidFill>
                  <a:schemeClr val="bg1"/>
                </a:solidFill>
              </a:rPr>
              <a:t> Невеста — красивая, жених — удалой, почему бы не любоваться ими</a:t>
            </a:r>
            <a:r>
              <a:rPr lang="ru-RU" sz="1600" dirty="0" smtClean="0">
                <a:solidFill>
                  <a:schemeClr val="bg1"/>
                </a:solidFill>
              </a:rPr>
              <a:t>?</a:t>
            </a:r>
            <a:r>
              <a:rPr lang="ru-RU" sz="1600" dirty="0">
                <a:solidFill>
                  <a:schemeClr val="bg1"/>
                </a:solidFill>
              </a:rPr>
              <a:t/>
            </a:r>
            <a:br>
              <a:rPr lang="ru-RU" sz="1600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Именная часть сказуемого означает признак конкретного лица, нет интонации «разрыва». </a:t>
            </a:r>
            <a:r>
              <a:rPr lang="ru-RU" sz="1600" b="1" i="1" u="sng" dirty="0">
                <a:solidFill>
                  <a:srgbClr val="FFC000"/>
                </a:solidFill>
              </a:rPr>
              <a:t>Пример</a:t>
            </a:r>
            <a:r>
              <a:rPr lang="ru-RU" sz="1600" b="1" dirty="0">
                <a:solidFill>
                  <a:schemeClr val="bg1"/>
                </a:solidFill>
              </a:rPr>
              <a:t>:</a:t>
            </a:r>
            <a:r>
              <a:rPr lang="ru-RU" sz="1600" dirty="0">
                <a:solidFill>
                  <a:schemeClr val="bg1"/>
                </a:solidFill>
              </a:rPr>
              <a:t> Его отец учитель в сельской гимназии.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/>
            </a:r>
            <a:br>
              <a:rPr lang="ru-RU" sz="1600" dirty="0">
                <a:solidFill>
                  <a:schemeClr val="bg1"/>
                </a:solidFill>
              </a:rPr>
            </a:b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2978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21984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Тире в неполном предложении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264555"/>
            <a:ext cx="10266426" cy="54250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1</a:t>
            </a:r>
            <a:r>
              <a:rPr lang="en-US" sz="2000" dirty="0" smtClean="0"/>
              <a:t>.</a:t>
            </a:r>
            <a:r>
              <a:rPr lang="ru-RU" sz="2000" dirty="0" smtClean="0"/>
              <a:t>В </a:t>
            </a:r>
            <a:r>
              <a:rPr lang="ru-RU" sz="2000" dirty="0"/>
              <a:t>эллиптических предложениях (разновидности неполных предложений, в которых недостающий член не восстанавливается и не подсказывается предыдущим контекстом) есть пауза.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На улице — метель. Тире ставится вместо сказуемого.</a:t>
            </a:r>
          </a:p>
          <a:p>
            <a:pPr marL="0" indent="0">
              <a:buNone/>
            </a:pPr>
            <a:r>
              <a:rPr lang="en-US" sz="2000" dirty="0" smtClean="0"/>
              <a:t>2.</a:t>
            </a:r>
            <a:r>
              <a:rPr lang="ru-RU" sz="2000" dirty="0" smtClean="0"/>
              <a:t>При </a:t>
            </a:r>
            <a:r>
              <a:rPr lang="ru-RU" sz="2000" dirty="0"/>
              <a:t>параллелизме конструкций.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«Руки — мои, ноги — мои, голова — тоже моя!» — закричал от обиды Коржиков.</a:t>
            </a:r>
          </a:p>
          <a:p>
            <a:pPr marL="0" indent="0">
              <a:buNone/>
            </a:pPr>
            <a:r>
              <a:rPr lang="en-US" sz="2000" dirty="0" smtClean="0"/>
              <a:t>3.</a:t>
            </a:r>
            <a:r>
              <a:rPr lang="ru-RU" sz="2000" dirty="0" smtClean="0"/>
              <a:t>В </a:t>
            </a:r>
            <a:r>
              <a:rPr lang="ru-RU" sz="2000" dirty="0"/>
              <a:t>предложениях особой структуры, в основе которых два существительных (одно в форме </a:t>
            </a:r>
            <a:r>
              <a:rPr lang="ru-RU" sz="2000" dirty="0" err="1">
                <a:solidFill>
                  <a:srgbClr val="FF0000"/>
                </a:solidFill>
              </a:rPr>
              <a:t>Д.п</a:t>
            </a:r>
            <a:r>
              <a:rPr lang="ru-RU" sz="2000" dirty="0"/>
              <a:t>., другое в форме </a:t>
            </a:r>
            <a:r>
              <a:rPr lang="ru-RU" sz="2000" dirty="0" err="1">
                <a:solidFill>
                  <a:srgbClr val="FF0000"/>
                </a:solidFill>
              </a:rPr>
              <a:t>В.п</a:t>
            </a:r>
            <a:r>
              <a:rPr lang="ru-RU" sz="2000" dirty="0"/>
              <a:t>.), эти предложения делятся на две части.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Рабочим — фабрики, крестьянам — земли!</a:t>
            </a:r>
          </a:p>
          <a:p>
            <a:pPr marL="0" indent="0">
              <a:buNone/>
            </a:pPr>
            <a:r>
              <a:rPr lang="en-US" sz="2000" dirty="0" smtClean="0"/>
              <a:t>4.</a:t>
            </a:r>
            <a:r>
              <a:rPr lang="ru-RU" sz="2000" dirty="0" smtClean="0"/>
              <a:t>Если </a:t>
            </a:r>
            <a:r>
              <a:rPr lang="ru-RU" sz="2000" dirty="0"/>
              <a:t>неполное предложение — часть сложного, когда пропущенный член можно восстановить из контекста.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Родители теперь стали опытнее, дети — послушнее.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594057" y="802890"/>
            <a:ext cx="2242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28324E"/>
                </a:solidFill>
                <a:latin typeface="Roboto"/>
              </a:rPr>
              <a:t>Пишем, если: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869591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0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в предложениях с однородными членами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792777"/>
            <a:ext cx="10266426" cy="5107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Обобщающее слово стоит после однородных членов.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Мама занесла в комнату бананы, яблоки, мандарины — фрукты. </a:t>
            </a:r>
            <a:r>
              <a:rPr lang="ru-RU" sz="2000" dirty="0" smtClean="0"/>
              <a:t>(</a:t>
            </a:r>
            <a:r>
              <a:rPr lang="ru-RU" sz="2000" b="1" dirty="0" smtClean="0"/>
              <a:t>О</a:t>
            </a:r>
            <a:r>
              <a:rPr lang="ru-RU" sz="2000" b="1" dirty="0"/>
              <a:t>, О, О – </a:t>
            </a:r>
            <a:r>
              <a:rPr lang="ru-RU" sz="2000" b="1" dirty="0" smtClean="0"/>
              <a:t>О).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После однородных членов перед обобщающим словом стоит вводное, то перед ним также ставят тире, а после — запятую.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 </a:t>
            </a:r>
            <a:r>
              <a:rPr lang="ru-RU" sz="2000" dirty="0"/>
              <a:t>На подоконниках, на свежеокрашенном полу, на полках книжного шкафа — словом, везде лежали разорванные на мелкие клочки листья тетрадок. </a:t>
            </a:r>
            <a:r>
              <a:rPr lang="ru-RU" sz="2000" dirty="0" smtClean="0"/>
              <a:t>(</a:t>
            </a:r>
            <a:r>
              <a:rPr lang="ru-RU" sz="2000" b="1" dirty="0" smtClean="0"/>
              <a:t>О</a:t>
            </a:r>
            <a:r>
              <a:rPr lang="ru-RU" sz="2000" b="1" dirty="0"/>
              <a:t>, О, О – словом, </a:t>
            </a:r>
            <a:r>
              <a:rPr lang="ru-RU" sz="2000" b="1" dirty="0" smtClean="0"/>
              <a:t>О).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>
                <a:solidFill>
                  <a:srgbClr val="C00000"/>
                </a:solidFill>
              </a:rPr>
              <a:t>ИСКЛ</a:t>
            </a:r>
            <a:r>
              <a:rPr lang="ru-RU" sz="2000" b="1" dirty="0" smtClean="0"/>
              <a:t>!</a:t>
            </a:r>
            <a:r>
              <a:rPr lang="ru-RU" sz="2000" dirty="0"/>
              <a:t> Когда обобщающее слово стоит перед однородными членами, однако предложение ими не заканчивается, тогда перед однородными членами ставится двоеточие, а после них — тире. 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 </a:t>
            </a:r>
            <a:r>
              <a:rPr lang="ru-RU" sz="2000" dirty="0"/>
              <a:t>Всё в саду: земля, скамейка, столик — было устлано упавшими с деревьев разноцветными листьями. </a:t>
            </a:r>
            <a:r>
              <a:rPr lang="ru-RU" sz="2000" dirty="0" smtClean="0"/>
              <a:t>(</a:t>
            </a:r>
            <a:r>
              <a:rPr lang="ru-RU" sz="2000" b="1" dirty="0" smtClean="0"/>
              <a:t>О</a:t>
            </a:r>
            <a:r>
              <a:rPr lang="ru-RU" sz="2000" b="1" dirty="0"/>
              <a:t>: О, О, О – </a:t>
            </a:r>
            <a:r>
              <a:rPr lang="ru-RU" sz="2000" b="1" dirty="0" smtClean="0"/>
              <a:t>...)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75206" y="1197526"/>
            <a:ext cx="2242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28324E"/>
                </a:solidFill>
                <a:latin typeface="Roboto"/>
              </a:rPr>
              <a:t>Пишем, если: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338028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4" y="460480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при приложениях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>
          <a:xfrm>
            <a:off x="1029903" y="1491917"/>
            <a:ext cx="5313145" cy="5197480"/>
          </a:xfrm>
          <a:solidFill>
            <a:schemeClr val="tx1">
              <a:lumMod val="85000"/>
              <a:lumOff val="15000"/>
              <a:alpha val="73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Перед ним можно вставить </a:t>
            </a:r>
            <a:r>
              <a:rPr lang="ru-RU" sz="1600" b="1" dirty="0">
                <a:solidFill>
                  <a:schemeClr val="bg1"/>
                </a:solidFill>
              </a:rPr>
              <a:t>а именно. </a:t>
            </a:r>
            <a:endParaRPr lang="ru-RU" sz="1600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600" b="1" dirty="0">
                <a:solidFill>
                  <a:schemeClr val="bg1"/>
                </a:solidFill>
              </a:rPr>
              <a:t>:</a:t>
            </a:r>
            <a:r>
              <a:rPr lang="ru-RU" sz="1600" dirty="0">
                <a:solidFill>
                  <a:schemeClr val="bg1"/>
                </a:solidFill>
              </a:rPr>
              <a:t> Впереди засверкали огни ночного города — родины Шота Руставели. (Приложение чаще всего уточняет информацию и стоит в конце предложения).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Подчеркивается самостоятельность приложения либо приложение нужно для разъяснения. </a:t>
            </a:r>
            <a:endParaRPr lang="ru-RU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600" b="1" dirty="0">
                <a:solidFill>
                  <a:schemeClr val="bg1"/>
                </a:solidFill>
              </a:rPr>
              <a:t>:</a:t>
            </a:r>
            <a:r>
              <a:rPr lang="ru-RU" sz="1600" dirty="0">
                <a:solidFill>
                  <a:schemeClr val="bg1"/>
                </a:solidFill>
              </a:rPr>
              <a:t> В октябре наступило «бабье лето» — кусочек лета осенью. (Приложение, как правило, стоит в конце предложения).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Выделяются с обеих сторон приложения, которые носят пояснительный характер. </a:t>
            </a:r>
            <a:endParaRPr lang="ru-RU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600" b="1" dirty="0">
                <a:solidFill>
                  <a:schemeClr val="bg1"/>
                </a:solidFill>
              </a:rPr>
              <a:t>:</a:t>
            </a:r>
            <a:r>
              <a:rPr lang="ru-RU" sz="1600" dirty="0">
                <a:solidFill>
                  <a:schemeClr val="bg1"/>
                </a:solidFill>
              </a:rPr>
              <a:t> Старейший из сидящих — седобородый старец в обшитой драгоценными камнями шубе и с посохом в руках — поздоровался с падчерицей.</a:t>
            </a:r>
          </a:p>
          <a:p>
            <a:pPr marL="0" indent="0"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6602931" y="1491917"/>
            <a:ext cx="5486400" cy="5197479"/>
          </a:xfrm>
          <a:solidFill>
            <a:schemeClr val="tx1">
              <a:lumMod val="85000"/>
              <a:lumOff val="15000"/>
              <a:alpha val="73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1" dirty="0" smtClean="0">
                <a:solidFill>
                  <a:srgbClr val="C00000"/>
                </a:solidFill>
              </a:rPr>
              <a:t>ИСКЛ</a:t>
            </a:r>
            <a:r>
              <a:rPr lang="ru-RU" sz="1400" b="1" dirty="0" smtClean="0">
                <a:solidFill>
                  <a:schemeClr val="bg1"/>
                </a:solidFill>
              </a:rPr>
              <a:t>!</a:t>
            </a:r>
            <a:r>
              <a:rPr lang="ru-RU" sz="1400" b="1" dirty="0">
                <a:solidFill>
                  <a:schemeClr val="bg1"/>
                </a:solidFill>
              </a:rPr>
              <a:t> Пример 1: </a:t>
            </a:r>
            <a:r>
              <a:rPr lang="ru-RU" sz="1400" dirty="0">
                <a:solidFill>
                  <a:schemeClr val="bg1"/>
                </a:solidFill>
              </a:rPr>
              <a:t>Если бы Петруша поел приготовленный мамой завтрак — кашу с молоком, то сейчас не испытывал бы голод. (Здесь второе тире "съедает" запятая, которая разделяет части сложного предложения). 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400" b="1" dirty="0" smtClean="0">
                <a:solidFill>
                  <a:srgbClr val="FFC000"/>
                </a:solidFill>
              </a:rPr>
              <a:t> </a:t>
            </a:r>
            <a:r>
              <a:rPr lang="ru-RU" sz="1400" b="1" dirty="0">
                <a:solidFill>
                  <a:schemeClr val="bg1"/>
                </a:solidFill>
              </a:rPr>
              <a:t>2: </a:t>
            </a:r>
            <a:r>
              <a:rPr lang="ru-RU" sz="1400" dirty="0">
                <a:solidFill>
                  <a:schemeClr val="bg1"/>
                </a:solidFill>
              </a:rPr>
              <a:t>Главный виновник случившегося — преступник раскрывается под конец детектива. (Приложение находится перед определяемым словом, поэтому только одно тире).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1"/>
                </a:solidFill>
              </a:rPr>
              <a:t/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 smtClean="0">
                <a:solidFill>
                  <a:srgbClr val="C00000"/>
                </a:solidFill>
              </a:rPr>
              <a:t>ИСКЛ</a:t>
            </a:r>
            <a:r>
              <a:rPr lang="ru-RU" sz="1400" b="1" dirty="0" smtClean="0">
                <a:solidFill>
                  <a:schemeClr val="bg1"/>
                </a:solidFill>
              </a:rPr>
              <a:t>!</a:t>
            </a:r>
            <a:r>
              <a:rPr lang="ru-RU" sz="1400" dirty="0">
                <a:solidFill>
                  <a:schemeClr val="bg1"/>
                </a:solidFill>
              </a:rPr>
              <a:t> Второе тире может опускаться, если приложение относится только к одному из однородных членов предложения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400" b="1" dirty="0" smtClean="0">
                <a:solidFill>
                  <a:srgbClr val="FFC000"/>
                </a:solidFill>
              </a:rPr>
              <a:t> </a:t>
            </a:r>
            <a:r>
              <a:rPr lang="ru-RU" sz="1400" b="1" dirty="0">
                <a:solidFill>
                  <a:schemeClr val="bg1"/>
                </a:solidFill>
              </a:rPr>
              <a:t>1: </a:t>
            </a:r>
            <a:r>
              <a:rPr lang="ru-RU" sz="1400" dirty="0">
                <a:solidFill>
                  <a:schemeClr val="bg1"/>
                </a:solidFill>
              </a:rPr>
              <a:t>В колхозах сеяли пшеницу, кукурузу — царицу полей, но сажали ещё и рожь, овёс. 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400" b="1" dirty="0" smtClean="0">
                <a:solidFill>
                  <a:srgbClr val="FFC000"/>
                </a:solidFill>
              </a:rPr>
              <a:t> </a:t>
            </a:r>
            <a:r>
              <a:rPr lang="ru-RU" sz="1400" b="1" dirty="0">
                <a:solidFill>
                  <a:schemeClr val="bg1"/>
                </a:solidFill>
              </a:rPr>
              <a:t>2: </a:t>
            </a:r>
            <a:r>
              <a:rPr lang="ru-RU" sz="1400" dirty="0">
                <a:solidFill>
                  <a:schemeClr val="bg1"/>
                </a:solidFill>
              </a:rPr>
              <a:t>Первый парень на селе, лучший тракторист и любимый девушками аккордеонист — Сергей хотел произвести на красавицу впечатление, поэтому и начал лихо играть на инструменте. (В данном предложении одно тире, которое  отделяет определяемое слово от однородных приложений).</a:t>
            </a:r>
          </a:p>
          <a:p>
            <a:pPr marL="0" indent="0">
              <a:buNone/>
            </a:pP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519585" y="1004673"/>
            <a:ext cx="19174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i="1" dirty="0">
                <a:solidFill>
                  <a:srgbClr val="28324E"/>
                </a:solidFill>
                <a:latin typeface="Roboto"/>
              </a:rPr>
              <a:t>Пишем, если:</a:t>
            </a:r>
            <a:endParaRPr lang="ru-RU" sz="2000" i="1" dirty="0"/>
          </a:p>
        </p:txBody>
      </p:sp>
    </p:spTree>
    <p:extLst>
      <p:ext uri="{BB962C8B-B14F-4D97-AF65-F5344CB8AC3E}">
        <p14:creationId xmlns:p14="http://schemas.microsoft.com/office/powerpoint/2010/main" val="19476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113971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при приложениях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659191"/>
            <a:ext cx="10266426" cy="5107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Обобщающее слово стоит после однородных членов.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Мама занесла в комнату бананы, яблоки, мандарины — фрукты. </a:t>
            </a:r>
            <a:r>
              <a:rPr lang="ru-RU" sz="2000" dirty="0" smtClean="0"/>
              <a:t>(</a:t>
            </a:r>
            <a:r>
              <a:rPr lang="ru-RU" sz="2000" b="1" dirty="0" smtClean="0"/>
              <a:t>О</a:t>
            </a:r>
            <a:r>
              <a:rPr lang="ru-RU" sz="2000" b="1" dirty="0"/>
              <a:t>, О, О – </a:t>
            </a:r>
            <a:r>
              <a:rPr lang="ru-RU" sz="2000" b="1" dirty="0" smtClean="0"/>
              <a:t>О).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После однородных членов перед обобщающим словом стоит вводное, то перед ним также ставят тире, а после — запятую. 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 </a:t>
            </a:r>
            <a:r>
              <a:rPr lang="ru-RU" sz="2000" dirty="0"/>
              <a:t>На подоконниках, на свежеокрашенном полу, на полках книжного шкафа — словом, везде лежали разорванные на мелкие клочки листья тетрадок. </a:t>
            </a:r>
            <a:r>
              <a:rPr lang="ru-RU" sz="2000" dirty="0" smtClean="0"/>
              <a:t>(</a:t>
            </a:r>
            <a:r>
              <a:rPr lang="ru-RU" sz="2000" b="1" dirty="0" smtClean="0"/>
              <a:t>О</a:t>
            </a:r>
            <a:r>
              <a:rPr lang="ru-RU" sz="2000" b="1" dirty="0"/>
              <a:t>, О, О – словом, </a:t>
            </a:r>
            <a:r>
              <a:rPr lang="ru-RU" sz="2000" b="1" dirty="0" smtClean="0"/>
              <a:t>О).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>
                <a:solidFill>
                  <a:srgbClr val="C00000"/>
                </a:solidFill>
              </a:rPr>
              <a:t>ИСКЛ</a:t>
            </a:r>
            <a:r>
              <a:rPr lang="ru-RU" sz="2000" b="1" dirty="0" smtClean="0"/>
              <a:t>!</a:t>
            </a:r>
            <a:r>
              <a:rPr lang="ru-RU" sz="2000" dirty="0"/>
              <a:t> Когда обобщающее слово стоит перед однородными членами, однако предложение ими не заканчивается, тогда перед однородными членами ставится двоеточие, а после них — тире. 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 </a:t>
            </a:r>
            <a:r>
              <a:rPr lang="ru-RU" sz="2000" dirty="0"/>
              <a:t>Всё в саду: земля, скамейка, столик — было устлано упавшими с деревьев разноцветными листьями. </a:t>
            </a:r>
            <a:r>
              <a:rPr lang="ru-RU" sz="2000" dirty="0" smtClean="0"/>
              <a:t>(</a:t>
            </a:r>
            <a:r>
              <a:rPr lang="ru-RU" sz="2000" b="1" dirty="0" smtClean="0"/>
              <a:t>О</a:t>
            </a:r>
            <a:r>
              <a:rPr lang="ru-RU" sz="2000" b="1" dirty="0"/>
              <a:t>: О, О, О – </a:t>
            </a:r>
            <a:r>
              <a:rPr lang="ru-RU" sz="2000" b="1" dirty="0" smtClean="0"/>
              <a:t>...)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35718" y="1025529"/>
            <a:ext cx="3204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28324E"/>
                </a:solidFill>
                <a:latin typeface="Roboto"/>
              </a:rPr>
              <a:t>Пишем, если: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571648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113971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в водных и вставных конструкциях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783153"/>
            <a:ext cx="10266426" cy="50881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Само вводное предложение распространенное. 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Устное народное творчество, или — как по–научному оно называется — «фольклор», показывает представление народа о мире.</a:t>
            </a:r>
          </a:p>
          <a:p>
            <a:pPr marL="0" indent="0">
              <a:buNone/>
            </a:pPr>
            <a:r>
              <a:rPr lang="ru-RU" sz="2000" dirty="0"/>
              <a:t>Они выражают чувства автора, часто бывают вопросительными или восклицательными предложениями, поэтому перед вторым тире, закрывающим вставную конструкцию, стоит восклицательный или вопросительный знак. 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Скорость света — вы только представьте! – равна трёмстам тысячам километров в секунду.</a:t>
            </a:r>
          </a:p>
          <a:p>
            <a:pPr marL="0" indent="0">
              <a:buNone/>
            </a:pPr>
            <a:r>
              <a:rPr lang="ru-RU" sz="2000" dirty="0"/>
              <a:t>Вставные конструкции, которые дополняют или поясняют основное предложение, в художественной литературе могут отделяться тире, хотя чаще отделяются скобками. 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2000" b="1" dirty="0"/>
              <a:t>:</a:t>
            </a:r>
            <a:r>
              <a:rPr lang="ru-RU" sz="2000" dirty="0"/>
              <a:t> По представлениям приглашённых — и Наташи между прочим тоже — постановка будет увлекательной.</a:t>
            </a:r>
          </a:p>
          <a:p>
            <a:pPr marL="0" indent="0">
              <a:buNone/>
            </a:pP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849338" y="1370918"/>
            <a:ext cx="77322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8324E"/>
                </a:solidFill>
                <a:latin typeface="Roboto"/>
              </a:rPr>
              <a:t>Вводные и вставные конструкции выделяются тире, если: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4924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15303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в бессоюзном сложном предложении 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659191"/>
            <a:ext cx="10266426" cy="5088118"/>
          </a:xfrm>
        </p:spPr>
        <p:txBody>
          <a:bodyPr>
            <a:noAutofit/>
          </a:bodyPr>
          <a:lstStyle/>
          <a:p>
            <a:r>
              <a:rPr lang="ru-RU" dirty="0"/>
              <a:t>Происходит быстрая смена событий либо неожиданный результат. </a:t>
            </a:r>
            <a:endParaRPr lang="ru-RU" dirty="0" smtClean="0"/>
          </a:p>
          <a:p>
            <a:r>
              <a:rPr lang="ru-RU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smtClean="0"/>
              <a:t>Встал</a:t>
            </a:r>
            <a:r>
              <a:rPr lang="ru-RU" dirty="0"/>
              <a:t> — в комнате уже никого не </a:t>
            </a:r>
            <a:r>
              <a:rPr lang="ru-RU" dirty="0" smtClean="0"/>
              <a:t>было.</a:t>
            </a:r>
            <a:endParaRPr lang="ru-RU" dirty="0"/>
          </a:p>
          <a:p>
            <a:r>
              <a:rPr lang="ru-RU" dirty="0"/>
              <a:t>Есть противопоставление (между частями можно использовать союзы </a:t>
            </a:r>
            <a:r>
              <a:rPr lang="ru-RU" b="1" dirty="0"/>
              <a:t>а, но</a:t>
            </a:r>
            <a:r>
              <a:rPr lang="ru-RU" dirty="0"/>
              <a:t>). </a:t>
            </a:r>
            <a:endParaRPr lang="ru-RU" dirty="0" smtClean="0"/>
          </a:p>
          <a:p>
            <a:r>
              <a:rPr lang="ru-RU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smtClean="0"/>
              <a:t>Наташа красива— (=а) Света умна.</a:t>
            </a:r>
          </a:p>
          <a:p>
            <a:r>
              <a:rPr lang="ru-RU" dirty="0" smtClean="0"/>
              <a:t>В первом предложении показаны время или условие действия (перед первым предложением можно использовать когда, если). </a:t>
            </a:r>
          </a:p>
          <a:p>
            <a:r>
              <a:rPr lang="ru-RU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b="1" dirty="0"/>
              <a:t>: </a:t>
            </a:r>
            <a:r>
              <a:rPr lang="ru-RU" dirty="0"/>
              <a:t>(Если) Хочешь </a:t>
            </a:r>
            <a:r>
              <a:rPr lang="ru-RU" dirty="0" smtClean="0"/>
              <a:t>кушать— </a:t>
            </a:r>
            <a:r>
              <a:rPr lang="ru-RU" dirty="0"/>
              <a:t>приготовь себе </a:t>
            </a:r>
            <a:r>
              <a:rPr lang="ru-RU" dirty="0" smtClean="0"/>
              <a:t>еду. </a:t>
            </a:r>
            <a:r>
              <a:rPr lang="ru-RU" dirty="0"/>
              <a:t>(Если) Сделал </a:t>
            </a:r>
            <a:r>
              <a:rPr lang="ru-RU" dirty="0" smtClean="0"/>
              <a:t>дело— </a:t>
            </a:r>
            <a:r>
              <a:rPr lang="ru-RU" dirty="0"/>
              <a:t>гуляй </a:t>
            </a:r>
            <a:r>
              <a:rPr lang="ru-RU" dirty="0" smtClean="0"/>
              <a:t>смело.</a:t>
            </a:r>
            <a:endParaRPr lang="ru-RU" dirty="0"/>
          </a:p>
          <a:p>
            <a:r>
              <a:rPr lang="ru-RU" dirty="0"/>
              <a:t>При сравнении (между частями можно использовать</a:t>
            </a:r>
            <a:r>
              <a:rPr lang="ru-RU" b="1" dirty="0"/>
              <a:t> словно, будто</a:t>
            </a:r>
            <a:r>
              <a:rPr lang="ru-RU" dirty="0"/>
              <a:t>). </a:t>
            </a:r>
            <a:endParaRPr lang="ru-RU" dirty="0" smtClean="0"/>
          </a:p>
          <a:p>
            <a:r>
              <a:rPr lang="ru-RU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b="1" dirty="0"/>
              <a:t>:</a:t>
            </a:r>
            <a:r>
              <a:rPr lang="ru-RU" dirty="0"/>
              <a:t> Скажет </a:t>
            </a:r>
            <a:r>
              <a:rPr lang="ru-RU" dirty="0" smtClean="0"/>
              <a:t>слово— </a:t>
            </a:r>
            <a:r>
              <a:rPr lang="ru-RU" dirty="0"/>
              <a:t>(=будто) канарейка </a:t>
            </a:r>
            <a:r>
              <a:rPr lang="ru-RU" dirty="0" smtClean="0"/>
              <a:t>поёт.</a:t>
            </a:r>
            <a:endParaRPr lang="ru-RU" dirty="0"/>
          </a:p>
          <a:p>
            <a:r>
              <a:rPr lang="ru-RU" dirty="0"/>
              <a:t>Второе предложение есть следствие или вывод (между частями можно использовать следовательно, значит). </a:t>
            </a:r>
            <a:endParaRPr lang="ru-RU" dirty="0" smtClean="0"/>
          </a:p>
          <a:p>
            <a:r>
              <a:rPr lang="ru-RU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b="1" dirty="0"/>
              <a:t>:</a:t>
            </a:r>
            <a:r>
              <a:rPr lang="ru-RU" dirty="0"/>
              <a:t> Кошка лежит у </a:t>
            </a:r>
            <a:r>
              <a:rPr lang="ru-RU" dirty="0" smtClean="0"/>
              <a:t>печки— </a:t>
            </a:r>
            <a:r>
              <a:rPr lang="ru-RU" dirty="0"/>
              <a:t>(=значит) день будет </a:t>
            </a:r>
            <a:r>
              <a:rPr lang="ru-RU" dirty="0" smtClean="0"/>
              <a:t>морозный.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594057" y="1197526"/>
            <a:ext cx="2242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28324E"/>
                </a:solidFill>
                <a:latin typeface="Roboto"/>
              </a:rPr>
              <a:t>Пишем, если: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252909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113971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в сложносочиненном предложении (ССП)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659191"/>
            <a:ext cx="10266426" cy="50881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/>
              <a:t>Во второй части ССП находится неожиданное присоединение или резкое противопоставление. </a:t>
            </a:r>
            <a:endParaRPr lang="ru-RU" sz="3200" dirty="0" smtClean="0"/>
          </a:p>
          <a:p>
            <a:pPr marL="0" indent="0">
              <a:buNone/>
            </a:pPr>
            <a:r>
              <a:rPr lang="ru-RU" sz="32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3200" b="1" dirty="0"/>
              <a:t>:</a:t>
            </a:r>
            <a:r>
              <a:rPr lang="ru-RU" sz="3200" dirty="0"/>
              <a:t> Я в больницу прибежал — а там собралась уже вся наша семья.</a:t>
            </a:r>
          </a:p>
          <a:p>
            <a:pPr marL="0" indent="0">
              <a:buNone/>
            </a:pPr>
            <a:r>
              <a:rPr lang="ru-RU" sz="3200" dirty="0"/>
              <a:t>Хотя бы одна из частей является назывным предложением. </a:t>
            </a:r>
            <a:endParaRPr lang="ru-RU" sz="3200" dirty="0" smtClean="0"/>
          </a:p>
          <a:p>
            <a:pPr marL="0" indent="0">
              <a:buNone/>
            </a:pPr>
            <a:r>
              <a:rPr lang="ru-RU" sz="32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3200" b="1" dirty="0"/>
              <a:t>:</a:t>
            </a:r>
            <a:r>
              <a:rPr lang="ru-RU" sz="3200" dirty="0"/>
              <a:t> «Ещё пять минут — и перемена», – думал </a:t>
            </a:r>
            <a:r>
              <a:rPr lang="ru-RU" sz="3200" dirty="0" err="1"/>
              <a:t>Сидорченко</a:t>
            </a:r>
            <a:r>
              <a:rPr lang="ru-RU" sz="3200" dirty="0"/>
              <a:t>, глядя на часы.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597252" y="1305248"/>
            <a:ext cx="22364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28324E"/>
                </a:solidFill>
                <a:latin typeface="Roboto"/>
              </a:rPr>
              <a:t>Пишем, если: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52368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273" y="0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Тире в сложноподчиненном предложении (СПП) 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2273" y="1394861"/>
            <a:ext cx="10266426" cy="50881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900" dirty="0"/>
              <a:t>Придаточная изъяснительная находится впереди главной части, особенно при использовании союзов </a:t>
            </a:r>
            <a:r>
              <a:rPr lang="ru-RU" sz="1900" b="1" dirty="0"/>
              <a:t>ли… </a:t>
            </a:r>
            <a:r>
              <a:rPr lang="ru-RU" sz="1900" dirty="0"/>
              <a:t>или, </a:t>
            </a:r>
            <a:r>
              <a:rPr lang="ru-RU" sz="1900" b="1" dirty="0"/>
              <a:t>ли…ли</a:t>
            </a:r>
            <a:r>
              <a:rPr lang="ru-RU" sz="1900" dirty="0"/>
              <a:t> и если в главной части есть слова </a:t>
            </a:r>
            <a:r>
              <a:rPr lang="ru-RU" sz="1900" b="1" dirty="0"/>
              <a:t>это, вот. </a:t>
            </a:r>
            <a:endParaRPr lang="ru-RU" sz="1900" b="1" dirty="0" smtClean="0"/>
          </a:p>
          <a:p>
            <a:pPr marL="0" indent="0">
              <a:buNone/>
            </a:pPr>
            <a:r>
              <a:rPr lang="ru-RU" sz="19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900" b="1" dirty="0"/>
              <a:t>:</a:t>
            </a:r>
            <a:r>
              <a:rPr lang="ru-RU" sz="1900" dirty="0"/>
              <a:t> Что случилось потом — это история умалчивает.</a:t>
            </a:r>
          </a:p>
          <a:p>
            <a:pPr marL="0" indent="0">
              <a:buNone/>
            </a:pPr>
            <a:r>
              <a:rPr lang="ru-RU" sz="1900" dirty="0"/>
              <a:t>Придаточное условное или уступительное находится впереди главной части, тогда возможна постановка тире вместо запятой. </a:t>
            </a:r>
            <a:endParaRPr lang="ru-RU" sz="1900" dirty="0" smtClean="0"/>
          </a:p>
          <a:p>
            <a:pPr marL="0" indent="0">
              <a:buNone/>
            </a:pPr>
            <a:r>
              <a:rPr lang="ru-RU" sz="19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900" b="1" dirty="0"/>
              <a:t>:</a:t>
            </a:r>
            <a:r>
              <a:rPr lang="ru-RU" sz="1900" dirty="0"/>
              <a:t> "Если хочешь быть счастливым — будь им!» – говорил </a:t>
            </a:r>
            <a:r>
              <a:rPr lang="ru-RU" sz="1900" dirty="0" err="1"/>
              <a:t>Козьма</a:t>
            </a:r>
            <a:r>
              <a:rPr lang="ru-RU" sz="1900" dirty="0"/>
              <a:t> Прутков.</a:t>
            </a:r>
          </a:p>
          <a:p>
            <a:pPr marL="0" indent="0">
              <a:buNone/>
            </a:pPr>
            <a:r>
              <a:rPr lang="ru-RU" sz="1900" dirty="0"/>
              <a:t>Придаточная часть — это неполное предложение с пропуском сказуемого, в этом случае по аналогии ставится тире. </a:t>
            </a:r>
            <a:endParaRPr lang="ru-RU" sz="1900" dirty="0" smtClean="0"/>
          </a:p>
          <a:p>
            <a:pPr marL="0" indent="0">
              <a:buNone/>
            </a:pPr>
            <a:r>
              <a:rPr lang="ru-RU" sz="19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900" b="1" dirty="0"/>
              <a:t>:</a:t>
            </a:r>
            <a:r>
              <a:rPr lang="ru-RU" sz="1900" dirty="0"/>
              <a:t> Некоторые думают, что для похудения надо правильно питаться и заниматься спортом, другие — что надо «исправлять» тело путём хирургического вмешательства.</a:t>
            </a:r>
          </a:p>
          <a:p>
            <a:pPr marL="0" indent="0">
              <a:buNone/>
            </a:pPr>
            <a:r>
              <a:rPr lang="ru-RU" sz="1900" dirty="0"/>
              <a:t>Несколько придаточных находятся впереди главной части, тогда по аналогии с обобщающим словом при однородных членах предложения ставится тире. </a:t>
            </a:r>
            <a:endParaRPr lang="ru-RU" sz="1900" dirty="0" smtClean="0"/>
          </a:p>
          <a:p>
            <a:pPr marL="0" indent="0">
              <a:buNone/>
            </a:pPr>
            <a:r>
              <a:rPr lang="ru-RU" sz="1900" b="1" i="1" u="sng" dirty="0" smtClean="0">
                <a:solidFill>
                  <a:srgbClr val="FFC000"/>
                </a:solidFill>
              </a:rPr>
              <a:t>Пример</a:t>
            </a:r>
            <a:r>
              <a:rPr lang="ru-RU" sz="1900" b="1" dirty="0"/>
              <a:t>:</a:t>
            </a:r>
            <a:r>
              <a:rPr lang="ru-RU" sz="1900" dirty="0"/>
              <a:t> Когда всё это кончится, как жить дальше — этого никто не знал.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172943" y="1096224"/>
            <a:ext cx="1730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28324E"/>
                </a:solidFill>
                <a:latin typeface="Roboto"/>
              </a:rPr>
              <a:t>Пишем, если: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38226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 smtClean="0"/>
              <a:t>Итог</a:t>
            </a:r>
            <a:endParaRPr lang="ru-RU" sz="6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6412" y="2143225"/>
            <a:ext cx="10647964" cy="3777622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Тире – одна из самых главных конструкций в русском языке</a:t>
            </a:r>
            <a:r>
              <a:rPr lang="en-US" sz="4000" dirty="0" smtClean="0"/>
              <a:t>,</a:t>
            </a:r>
            <a:r>
              <a:rPr lang="ru-RU" sz="4000" dirty="0"/>
              <a:t> </a:t>
            </a:r>
            <a:r>
              <a:rPr lang="ru-RU" sz="4000" dirty="0" smtClean="0"/>
              <a:t>которая помогает интонационно выражать смысл предложения</a:t>
            </a:r>
            <a:r>
              <a:rPr lang="en-US" sz="4000" dirty="0" smtClean="0"/>
              <a:t>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1227211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3675" y="1605888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ru-RU" sz="96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</a:t>
            </a:r>
            <a:r>
              <a:rPr lang="en-US" sz="96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96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sz="9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4455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274</TotalTime>
  <Words>214</Words>
  <Application>Microsoft Office PowerPoint</Application>
  <PresentationFormat>Широкоэкранный</PresentationFormat>
  <Paragraphs>107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Roboto</vt:lpstr>
      <vt:lpstr>Wingdings 3</vt:lpstr>
      <vt:lpstr>Легкий дым</vt:lpstr>
      <vt:lpstr>Тире в простом и сложном предложениях</vt:lpstr>
      <vt:lpstr>Презентация PowerPoint</vt:lpstr>
      <vt:lpstr>Тире в простом предложении</vt:lpstr>
      <vt:lpstr>Тире Не пишем, когда главные члены выражаются</vt:lpstr>
      <vt:lpstr>Тире в неполном предложении  </vt:lpstr>
      <vt:lpstr>Тире в предложениях с однородными членами</vt:lpstr>
      <vt:lpstr>Тире при приложениях</vt:lpstr>
      <vt:lpstr>Тире при приложениях</vt:lpstr>
      <vt:lpstr>Тире в водных и вставных конструкциях</vt:lpstr>
      <vt:lpstr>Тире в бессоюзном сложном предложении </vt:lpstr>
      <vt:lpstr>Тире в сложносочиненном предложении (ССП)</vt:lpstr>
      <vt:lpstr>Тире в сложноподчиненном предложении (СПП) </vt:lpstr>
      <vt:lpstr>Итог</vt:lpstr>
      <vt:lpstr>Спасибо за внимание  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Тире в простом и сложном предложениях</dc:title>
  <dc:creator>Eyeofgod</dc:creator>
  <cp:lastModifiedBy>Eyeofgod</cp:lastModifiedBy>
  <cp:revision>10</cp:revision>
  <dcterms:created xsi:type="dcterms:W3CDTF">2020-11-16T16:07:15Z</dcterms:created>
  <dcterms:modified xsi:type="dcterms:W3CDTF">2020-11-16T20:42:23Z</dcterms:modified>
</cp:coreProperties>
</file>